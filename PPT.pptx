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ussar Bold" panose="020B0604020202020204" charset="0"/>
      <p:regular r:id="rId8"/>
    </p:embeddedFont>
    <p:embeddedFont>
      <p:font typeface="Montserrat" panose="00000500000000000000" pitchFamily="2" charset="0"/>
      <p:regular r:id="rId9"/>
    </p:embeddedFont>
    <p:embeddedFont>
      <p:font typeface="Montserrat Bold" panose="00000800000000000000" charset="0"/>
      <p:regular r:id="rId10"/>
    </p:embeddedFont>
    <p:embeddedFont>
      <p:font typeface="Montserrat Italics" panose="020B0604020202020204" charset="0"/>
      <p:regular r:id="rId11"/>
    </p:embeddedFont>
    <p:embeddedFont>
      <p:font typeface="Montserrat Ultra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D53A4-30DA-4C2A-A59D-10C98471575B}" v="6" dt="2025-10-27T04:32:59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i febryana" userId="c09114271c9a4b5b" providerId="LiveId" clId="{1E87F871-D973-480F-93B3-5BE803C76A95}"/>
    <pc:docChg chg="modSld modMainMaster">
      <pc:chgData name="dini febryana" userId="c09114271c9a4b5b" providerId="LiveId" clId="{1E87F871-D973-480F-93B3-5BE803C76A95}" dt="2025-10-27T04:32:59.297" v="5"/>
      <pc:docMkLst>
        <pc:docMk/>
      </pc:docMkLst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56"/>
        </pc:sldMkLst>
      </pc:sldChg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57"/>
        </pc:sldMkLst>
      </pc:sldChg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58"/>
        </pc:sldMkLst>
      </pc:sldChg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59"/>
        </pc:sldMkLst>
      </pc:sldChg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60"/>
        </pc:sldMkLst>
      </pc:sldChg>
      <pc:sldChg chg="modTransition">
        <pc:chgData name="dini febryana" userId="c09114271c9a4b5b" providerId="LiveId" clId="{1E87F871-D973-480F-93B3-5BE803C76A95}" dt="2025-10-27T04:32:59.297" v="5"/>
        <pc:sldMkLst>
          <pc:docMk/>
          <pc:sldMk cId="0" sldId="261"/>
        </pc:sldMkLst>
      </pc:sldChg>
      <pc:sldMasterChg chg="modTransition modSldLayout">
        <pc:chgData name="dini febryana" userId="c09114271c9a4b5b" providerId="LiveId" clId="{1E87F871-D973-480F-93B3-5BE803C76A95}" dt="2025-10-27T04:32:59.297" v="5"/>
        <pc:sldMasterMkLst>
          <pc:docMk/>
          <pc:sldMasterMk cId="0" sldId="2147483648"/>
        </pc:sldMasterMkLst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dini febryana" userId="c09114271c9a4b5b" providerId="LiveId" clId="{1E87F871-D973-480F-93B3-5BE803C76A95}" dt="2025-10-27T04:32:59.297" v="5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5.svg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svg"/><Relationship Id="rId7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0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22307" y="-4393257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219340" y="4704661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6" y="0"/>
                </a:lnTo>
                <a:lnTo>
                  <a:pt x="9975596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22307" y="-4393257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45090" y="7788295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59868" y="-4652043"/>
            <a:ext cx="8679682" cy="6878648"/>
          </a:xfrm>
          <a:custGeom>
            <a:avLst/>
            <a:gdLst/>
            <a:ahLst/>
            <a:cxnLst/>
            <a:rect l="l" t="t" r="r" b="b"/>
            <a:pathLst>
              <a:path w="8679682" h="6878648">
                <a:moveTo>
                  <a:pt x="0" y="0"/>
                </a:moveTo>
                <a:lnTo>
                  <a:pt x="8679682" y="0"/>
                </a:lnTo>
                <a:lnTo>
                  <a:pt x="8679682" y="6878648"/>
                </a:lnTo>
                <a:lnTo>
                  <a:pt x="0" y="6878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56232" y="2458147"/>
            <a:ext cx="4543477" cy="3680216"/>
          </a:xfrm>
          <a:custGeom>
            <a:avLst/>
            <a:gdLst/>
            <a:ahLst/>
            <a:cxnLst/>
            <a:rect l="l" t="t" r="r" b="b"/>
            <a:pathLst>
              <a:path w="4543477" h="3680216">
                <a:moveTo>
                  <a:pt x="0" y="0"/>
                </a:moveTo>
                <a:lnTo>
                  <a:pt x="4543477" y="0"/>
                </a:lnTo>
                <a:lnTo>
                  <a:pt x="4543477" y="3680216"/>
                </a:lnTo>
                <a:lnTo>
                  <a:pt x="0" y="3680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66377" y="2226605"/>
            <a:ext cx="463083" cy="463083"/>
          </a:xfrm>
          <a:custGeom>
            <a:avLst/>
            <a:gdLst/>
            <a:ahLst/>
            <a:cxnLst/>
            <a:rect l="l" t="t" r="r" b="b"/>
            <a:pathLst>
              <a:path w="463083" h="463083">
                <a:moveTo>
                  <a:pt x="0" y="0"/>
                </a:moveTo>
                <a:lnTo>
                  <a:pt x="463084" y="0"/>
                </a:lnTo>
                <a:lnTo>
                  <a:pt x="463084" y="463083"/>
                </a:lnTo>
                <a:lnTo>
                  <a:pt x="0" y="4630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115229" y="4416520"/>
            <a:ext cx="288141" cy="288141"/>
          </a:xfrm>
          <a:custGeom>
            <a:avLst/>
            <a:gdLst/>
            <a:ahLst/>
            <a:cxnLst/>
            <a:rect l="l" t="t" r="r" b="b"/>
            <a:pathLst>
              <a:path w="288141" h="288141">
                <a:moveTo>
                  <a:pt x="0" y="0"/>
                </a:moveTo>
                <a:lnTo>
                  <a:pt x="288142" y="0"/>
                </a:lnTo>
                <a:lnTo>
                  <a:pt x="288142" y="288141"/>
                </a:lnTo>
                <a:lnTo>
                  <a:pt x="0" y="288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92791" y="6604928"/>
            <a:ext cx="288141" cy="288141"/>
          </a:xfrm>
          <a:custGeom>
            <a:avLst/>
            <a:gdLst/>
            <a:ahLst/>
            <a:cxnLst/>
            <a:rect l="l" t="t" r="r" b="b"/>
            <a:pathLst>
              <a:path w="288141" h="288141">
                <a:moveTo>
                  <a:pt x="0" y="0"/>
                </a:moveTo>
                <a:lnTo>
                  <a:pt x="288141" y="0"/>
                </a:lnTo>
                <a:lnTo>
                  <a:pt x="288141" y="288141"/>
                </a:lnTo>
                <a:lnTo>
                  <a:pt x="0" y="2881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80932" y="0"/>
            <a:ext cx="4007068" cy="1428680"/>
          </a:xfrm>
          <a:custGeom>
            <a:avLst/>
            <a:gdLst/>
            <a:ahLst/>
            <a:cxnLst/>
            <a:rect l="l" t="t" r="r" b="b"/>
            <a:pathLst>
              <a:path w="4007068" h="1428680">
                <a:moveTo>
                  <a:pt x="0" y="0"/>
                </a:moveTo>
                <a:lnTo>
                  <a:pt x="4007068" y="0"/>
                </a:lnTo>
                <a:lnTo>
                  <a:pt x="4007068" y="1428680"/>
                </a:lnTo>
                <a:lnTo>
                  <a:pt x="0" y="142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80795" y="1448097"/>
            <a:ext cx="508933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Kriptografi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74805" y="8713397"/>
            <a:ext cx="7184495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BED12B"/>
                </a:solidFill>
                <a:latin typeface="Montserrat"/>
                <a:ea typeface="Montserrat"/>
                <a:cs typeface="Montserrat"/>
                <a:sym typeface="Montserrat"/>
              </a:rPr>
              <a:t>Oleh: Dini Febryana Sari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775413"/>
            <a:ext cx="10717124" cy="256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863" b="1" spc="-12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STUDI LITERATUR: ANALISIS PERBANDINGAN ALGORITMA HASH (MD5, SHA-2, SHA-3, DAN SHA-512)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0795" y="5946918"/>
            <a:ext cx="11075437" cy="109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Hussar Bold"/>
                <a:ea typeface="Hussar Bold"/>
                <a:cs typeface="Hussar Bold"/>
                <a:sym typeface="Hussar Bold"/>
              </a:rPr>
              <a:t>Menemukan "Ide" Implementasi Terbaik untuk Keamanan Otentikasi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0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3219340" y="8373320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972769" y="3696218"/>
            <a:ext cx="2894564" cy="289456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3972769" y="-2065840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5"/>
                </a:lnTo>
                <a:lnTo>
                  <a:pt x="0" y="9975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3563843" y="-1499969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299"/>
                </a:lnTo>
                <a:lnTo>
                  <a:pt x="0" y="5857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8193767"/>
            <a:ext cx="1436428" cy="359107"/>
          </a:xfrm>
          <a:custGeom>
            <a:avLst/>
            <a:gdLst/>
            <a:ahLst/>
            <a:cxnLst/>
            <a:rect l="l" t="t" r="r" b="b"/>
            <a:pathLst>
              <a:path w="1436428" h="359107">
                <a:moveTo>
                  <a:pt x="0" y="0"/>
                </a:moveTo>
                <a:lnTo>
                  <a:pt x="1436428" y="0"/>
                </a:lnTo>
                <a:lnTo>
                  <a:pt x="1436428" y="359107"/>
                </a:lnTo>
                <a:lnTo>
                  <a:pt x="0" y="3591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374975" y="2431844"/>
            <a:ext cx="463083" cy="463083"/>
          </a:xfrm>
          <a:custGeom>
            <a:avLst/>
            <a:gdLst/>
            <a:ahLst/>
            <a:cxnLst/>
            <a:rect l="l" t="t" r="r" b="b"/>
            <a:pathLst>
              <a:path w="463083" h="463083">
                <a:moveTo>
                  <a:pt x="0" y="0"/>
                </a:moveTo>
                <a:lnTo>
                  <a:pt x="463083" y="0"/>
                </a:lnTo>
                <a:lnTo>
                  <a:pt x="463083" y="463083"/>
                </a:lnTo>
                <a:lnTo>
                  <a:pt x="0" y="4630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64918" y="7730683"/>
            <a:ext cx="231542" cy="231542"/>
          </a:xfrm>
          <a:custGeom>
            <a:avLst/>
            <a:gdLst/>
            <a:ahLst/>
            <a:cxnLst/>
            <a:rect l="l" t="t" r="r" b="b"/>
            <a:pathLst>
              <a:path w="231542" h="231542">
                <a:moveTo>
                  <a:pt x="0" y="0"/>
                </a:moveTo>
                <a:lnTo>
                  <a:pt x="231542" y="0"/>
                </a:lnTo>
                <a:lnTo>
                  <a:pt x="231542" y="231542"/>
                </a:lnTo>
                <a:lnTo>
                  <a:pt x="0" y="231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64357" y="1603169"/>
            <a:ext cx="1189948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1">
                <a:solidFill>
                  <a:srgbClr val="C4DF8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Kenapa "Ide" Ini Penting?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5520" y="3237924"/>
            <a:ext cx="10699455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Peretasan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kata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sandi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adalah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ancaman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serius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bagi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organisasi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Algoritma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lama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seperti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MD5 dan SHA-1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sudah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usang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tidak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Keduanya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rentan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terhadap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serangan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kolisi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 rainbow table attack.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Pertanyaan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Jadi,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apa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metode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teraman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menyimpan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password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saat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ini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4280932" y="0"/>
            <a:ext cx="4007068" cy="1428680"/>
          </a:xfrm>
          <a:custGeom>
            <a:avLst/>
            <a:gdLst/>
            <a:ahLst/>
            <a:cxnLst/>
            <a:rect l="l" t="t" r="r" b="b"/>
            <a:pathLst>
              <a:path w="4007068" h="1428680">
                <a:moveTo>
                  <a:pt x="0" y="0"/>
                </a:moveTo>
                <a:lnTo>
                  <a:pt x="4007068" y="0"/>
                </a:lnTo>
                <a:lnTo>
                  <a:pt x="4007068" y="1428680"/>
                </a:lnTo>
                <a:lnTo>
                  <a:pt x="0" y="142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D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8421892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3855197" y="-2144863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5"/>
                </a:lnTo>
                <a:lnTo>
                  <a:pt x="0" y="997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6990232" y="-1157777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5" y="0"/>
                </a:lnTo>
                <a:lnTo>
                  <a:pt x="7390915" y="5857299"/>
                </a:lnTo>
                <a:lnTo>
                  <a:pt x="0" y="5857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55197" y="4079753"/>
            <a:ext cx="4688376" cy="6245380"/>
          </a:xfrm>
          <a:custGeom>
            <a:avLst/>
            <a:gdLst/>
            <a:ahLst/>
            <a:cxnLst/>
            <a:rect l="l" t="t" r="r" b="b"/>
            <a:pathLst>
              <a:path w="4688376" h="6245380">
                <a:moveTo>
                  <a:pt x="0" y="0"/>
                </a:moveTo>
                <a:lnTo>
                  <a:pt x="4688376" y="0"/>
                </a:lnTo>
                <a:lnTo>
                  <a:pt x="4688376" y="6245380"/>
                </a:lnTo>
                <a:lnTo>
                  <a:pt x="0" y="6245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35267" y="999348"/>
            <a:ext cx="9571388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1">
                <a:solidFill>
                  <a:srgbClr val="5350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Beda Konteks, Beda Pilihan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8814" y="2682656"/>
            <a:ext cx="5358716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Konteks 1: Penyimpanan Password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Studi (Natho et al., 2024) membandingkan MD5, SHA1, SHA2, dan SHA3.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SHA-3 paling aman (hanya 20% tembus) tapi juga paling lambat.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Catatan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Lambat itu justru baik untuk password karena membuat serangan </a:t>
            </a:r>
            <a:r>
              <a:rPr lang="en-US" sz="3000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brute force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jadi mahal.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7420982" y="2779901"/>
            <a:ext cx="463083" cy="463083"/>
          </a:xfrm>
          <a:custGeom>
            <a:avLst/>
            <a:gdLst/>
            <a:ahLst/>
            <a:cxnLst/>
            <a:rect l="l" t="t" r="r" b="b"/>
            <a:pathLst>
              <a:path w="463083" h="463083">
                <a:moveTo>
                  <a:pt x="0" y="0"/>
                </a:moveTo>
                <a:lnTo>
                  <a:pt x="463083" y="0"/>
                </a:lnTo>
                <a:lnTo>
                  <a:pt x="463083" y="463084"/>
                </a:lnTo>
                <a:lnTo>
                  <a:pt x="0" y="4630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41971" y="6342504"/>
            <a:ext cx="371847" cy="371847"/>
          </a:xfrm>
          <a:custGeom>
            <a:avLst/>
            <a:gdLst/>
            <a:ahLst/>
            <a:cxnLst/>
            <a:rect l="l" t="t" r="r" b="b"/>
            <a:pathLst>
              <a:path w="371847" h="371847">
                <a:moveTo>
                  <a:pt x="0" y="0"/>
                </a:moveTo>
                <a:lnTo>
                  <a:pt x="371847" y="0"/>
                </a:lnTo>
                <a:lnTo>
                  <a:pt x="371847" y="371848"/>
                </a:lnTo>
                <a:lnTo>
                  <a:pt x="0" y="371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14893" y="9411882"/>
            <a:ext cx="371847" cy="371847"/>
          </a:xfrm>
          <a:custGeom>
            <a:avLst/>
            <a:gdLst/>
            <a:ahLst/>
            <a:cxnLst/>
            <a:rect l="l" t="t" r="r" b="b"/>
            <a:pathLst>
              <a:path w="371847" h="371847">
                <a:moveTo>
                  <a:pt x="0" y="0"/>
                </a:moveTo>
                <a:lnTo>
                  <a:pt x="371847" y="0"/>
                </a:lnTo>
                <a:lnTo>
                  <a:pt x="371847" y="371848"/>
                </a:lnTo>
                <a:lnTo>
                  <a:pt x="0" y="371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280932" y="0"/>
            <a:ext cx="4007068" cy="1428680"/>
          </a:xfrm>
          <a:custGeom>
            <a:avLst/>
            <a:gdLst/>
            <a:ahLst/>
            <a:cxnLst/>
            <a:rect l="l" t="t" r="r" b="b"/>
            <a:pathLst>
              <a:path w="4007068" h="1428680">
                <a:moveTo>
                  <a:pt x="0" y="0"/>
                </a:moveTo>
                <a:lnTo>
                  <a:pt x="4007068" y="0"/>
                </a:lnTo>
                <a:lnTo>
                  <a:pt x="4007068" y="1428680"/>
                </a:lnTo>
                <a:lnTo>
                  <a:pt x="0" y="142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198007" y="2682656"/>
            <a:ext cx="5555176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Konteks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2: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Otentikasi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API (JWT)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Studi (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Rasyada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2022)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membandingkan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SHA-512 vs SHA-256.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SHA-512 sangat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baik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bahkan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sedikit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lebih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cepat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(512.8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ms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dari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SHA-256 (515.55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ms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D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0677" y="-5776333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5"/>
                </a:lnTo>
                <a:lnTo>
                  <a:pt x="0" y="997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439878" y="-2172198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299"/>
                </a:lnTo>
                <a:lnTo>
                  <a:pt x="0" y="5857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19340" y="3685101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6" y="0"/>
                </a:lnTo>
                <a:lnTo>
                  <a:pt x="9975596" y="9975595"/>
                </a:lnTo>
                <a:lnTo>
                  <a:pt x="0" y="997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219340" y="7572337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2550677" y="1452493"/>
            <a:ext cx="756881" cy="0"/>
          </a:xfrm>
          <a:prstGeom prst="line">
            <a:avLst/>
          </a:prstGeom>
          <a:ln w="47625" cap="flat">
            <a:solidFill>
              <a:srgbClr val="5350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5275630" y="9258300"/>
            <a:ext cx="869627" cy="217407"/>
          </a:xfrm>
          <a:custGeom>
            <a:avLst/>
            <a:gdLst/>
            <a:ahLst/>
            <a:cxnLst/>
            <a:rect l="l" t="t" r="r" b="b"/>
            <a:pathLst>
              <a:path w="869627" h="217407">
                <a:moveTo>
                  <a:pt x="0" y="0"/>
                </a:moveTo>
                <a:lnTo>
                  <a:pt x="869626" y="0"/>
                </a:lnTo>
                <a:lnTo>
                  <a:pt x="869626" y="217407"/>
                </a:lnTo>
                <a:lnTo>
                  <a:pt x="0" y="217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249139" flipH="1" flipV="1">
            <a:off x="-1005548" y="-1259309"/>
            <a:ext cx="4068495" cy="4576017"/>
          </a:xfrm>
          <a:custGeom>
            <a:avLst/>
            <a:gdLst/>
            <a:ahLst/>
            <a:cxnLst/>
            <a:rect l="l" t="t" r="r" b="b"/>
            <a:pathLst>
              <a:path w="4068495" h="4576017">
                <a:moveTo>
                  <a:pt x="4068496" y="4576018"/>
                </a:moveTo>
                <a:lnTo>
                  <a:pt x="0" y="4576018"/>
                </a:lnTo>
                <a:lnTo>
                  <a:pt x="0" y="0"/>
                </a:lnTo>
                <a:lnTo>
                  <a:pt x="4068496" y="0"/>
                </a:lnTo>
                <a:lnTo>
                  <a:pt x="4068496" y="457601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89183" y="4080676"/>
            <a:ext cx="6615901" cy="242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1">
                <a:solidFill>
                  <a:srgbClr val="5350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"Ide" Kunci: Pentingnya Teknik Salting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05084" y="1276350"/>
            <a:ext cx="9758444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Masalah / Research Gap: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Algoritma hash yang kuat saja tidak cukup.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Studi (Natho et al., 2024) menunjukkan bahwa SHA-3 yang paling aman pun masih bisa diretas 20% jika digunakan tanpa teknik tambahan.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Solusi / Ide (Model Hibrida):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Studi (Aranuwa et al., 2022) mengusulkan model hibrida SHA-512 + Salting.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Hasil: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Efektivitas mencapai 97.6%.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Catatan: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Salting secara teknis mampu mengalahkan rainbow table attack.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4280932" y="0"/>
            <a:ext cx="4007068" cy="1428680"/>
          </a:xfrm>
          <a:custGeom>
            <a:avLst/>
            <a:gdLst/>
            <a:ahLst/>
            <a:cxnLst/>
            <a:rect l="l" t="t" r="r" b="b"/>
            <a:pathLst>
              <a:path w="4007068" h="1428680">
                <a:moveTo>
                  <a:pt x="0" y="0"/>
                </a:moveTo>
                <a:lnTo>
                  <a:pt x="4007068" y="0"/>
                </a:lnTo>
                <a:lnTo>
                  <a:pt x="4007068" y="1428680"/>
                </a:lnTo>
                <a:lnTo>
                  <a:pt x="0" y="142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0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323945" y="5538498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1920829" y="8950098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442037" y="-6035108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6" y="0"/>
                </a:lnTo>
                <a:lnTo>
                  <a:pt x="9975596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4843983" y="70021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4182" y="9112956"/>
            <a:ext cx="1162749" cy="290687"/>
          </a:xfrm>
          <a:custGeom>
            <a:avLst/>
            <a:gdLst/>
            <a:ahLst/>
            <a:cxnLst/>
            <a:rect l="l" t="t" r="r" b="b"/>
            <a:pathLst>
              <a:path w="1162749" h="290687">
                <a:moveTo>
                  <a:pt x="0" y="0"/>
                </a:moveTo>
                <a:lnTo>
                  <a:pt x="1162749" y="0"/>
                </a:lnTo>
                <a:lnTo>
                  <a:pt x="1162749" y="290688"/>
                </a:lnTo>
                <a:lnTo>
                  <a:pt x="0" y="290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896958" y="-2279541"/>
            <a:ext cx="4699125" cy="469912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8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46931" y="3264606"/>
            <a:ext cx="10287232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Kesimpulan: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MD5 dan SHA-1 sudah usang.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Keamanan modern tidak hanya bergantung pada algoritma, tapi juga pada cara implementasinya.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Rekomendasi Ide: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Gunakan pendekatan kombinasi (hibrida):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Algoritma hash kuat (SHA-512 atau SHA-3).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Wajib dikombinasikan dengan teknik salting untuk perlindungan maksimal.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46931" y="2540860"/>
            <a:ext cx="12126738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6000" b="1">
                <a:solidFill>
                  <a:srgbClr val="C4DF8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Kesimpulan &amp; Rekomendasi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720096" y="8176547"/>
            <a:ext cx="353725" cy="353725"/>
          </a:xfrm>
          <a:custGeom>
            <a:avLst/>
            <a:gdLst/>
            <a:ahLst/>
            <a:cxnLst/>
            <a:rect l="l" t="t" r="r" b="b"/>
            <a:pathLst>
              <a:path w="353725" h="353725">
                <a:moveTo>
                  <a:pt x="0" y="0"/>
                </a:moveTo>
                <a:lnTo>
                  <a:pt x="353725" y="0"/>
                </a:lnTo>
                <a:lnTo>
                  <a:pt x="353725" y="353725"/>
                </a:lnTo>
                <a:lnTo>
                  <a:pt x="0" y="353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70262" y="4631399"/>
            <a:ext cx="485901" cy="485901"/>
          </a:xfrm>
          <a:custGeom>
            <a:avLst/>
            <a:gdLst/>
            <a:ahLst/>
            <a:cxnLst/>
            <a:rect l="l" t="t" r="r" b="b"/>
            <a:pathLst>
              <a:path w="485901" h="485901">
                <a:moveTo>
                  <a:pt x="0" y="0"/>
                </a:moveTo>
                <a:lnTo>
                  <a:pt x="485901" y="0"/>
                </a:lnTo>
                <a:lnTo>
                  <a:pt x="485901" y="485901"/>
                </a:lnTo>
                <a:lnTo>
                  <a:pt x="0" y="485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280932" y="0"/>
            <a:ext cx="4007068" cy="1428680"/>
          </a:xfrm>
          <a:custGeom>
            <a:avLst/>
            <a:gdLst/>
            <a:ahLst/>
            <a:cxnLst/>
            <a:rect l="l" t="t" r="r" b="b"/>
            <a:pathLst>
              <a:path w="4007068" h="1428680">
                <a:moveTo>
                  <a:pt x="0" y="0"/>
                </a:moveTo>
                <a:lnTo>
                  <a:pt x="4007068" y="0"/>
                </a:lnTo>
                <a:lnTo>
                  <a:pt x="4007068" y="1428680"/>
                </a:lnTo>
                <a:lnTo>
                  <a:pt x="0" y="14286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D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16062" y="-6290494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5" y="0"/>
                </a:lnTo>
                <a:lnTo>
                  <a:pt x="9975595" y="9975595"/>
                </a:lnTo>
                <a:lnTo>
                  <a:pt x="0" y="997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45085" y="-3817202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300"/>
                </a:lnTo>
                <a:lnTo>
                  <a:pt x="0" y="58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19340" y="4559118"/>
            <a:ext cx="9975595" cy="9975595"/>
          </a:xfrm>
          <a:custGeom>
            <a:avLst/>
            <a:gdLst/>
            <a:ahLst/>
            <a:cxnLst/>
            <a:rect l="l" t="t" r="r" b="b"/>
            <a:pathLst>
              <a:path w="9975595" h="9975595">
                <a:moveTo>
                  <a:pt x="0" y="0"/>
                </a:moveTo>
                <a:lnTo>
                  <a:pt x="9975596" y="0"/>
                </a:lnTo>
                <a:lnTo>
                  <a:pt x="9975596" y="9975596"/>
                </a:lnTo>
                <a:lnTo>
                  <a:pt x="0" y="997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26999" y="7792999"/>
            <a:ext cx="7390914" cy="5857299"/>
          </a:xfrm>
          <a:custGeom>
            <a:avLst/>
            <a:gdLst/>
            <a:ahLst/>
            <a:cxnLst/>
            <a:rect l="l" t="t" r="r" b="b"/>
            <a:pathLst>
              <a:path w="7390914" h="5857299">
                <a:moveTo>
                  <a:pt x="0" y="0"/>
                </a:moveTo>
                <a:lnTo>
                  <a:pt x="7390914" y="0"/>
                </a:lnTo>
                <a:lnTo>
                  <a:pt x="7390914" y="5857299"/>
                </a:lnTo>
                <a:lnTo>
                  <a:pt x="0" y="5857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99937" y="6668567"/>
            <a:ext cx="1447236" cy="361809"/>
          </a:xfrm>
          <a:custGeom>
            <a:avLst/>
            <a:gdLst/>
            <a:ahLst/>
            <a:cxnLst/>
            <a:rect l="l" t="t" r="r" b="b"/>
            <a:pathLst>
              <a:path w="1447236" h="361809">
                <a:moveTo>
                  <a:pt x="0" y="0"/>
                </a:moveTo>
                <a:lnTo>
                  <a:pt x="1447236" y="0"/>
                </a:lnTo>
                <a:lnTo>
                  <a:pt x="1447236" y="361809"/>
                </a:lnTo>
                <a:lnTo>
                  <a:pt x="0" y="361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868395" y="3453559"/>
            <a:ext cx="463083" cy="463083"/>
          </a:xfrm>
          <a:custGeom>
            <a:avLst/>
            <a:gdLst/>
            <a:ahLst/>
            <a:cxnLst/>
            <a:rect l="l" t="t" r="r" b="b"/>
            <a:pathLst>
              <a:path w="463083" h="463083">
                <a:moveTo>
                  <a:pt x="0" y="0"/>
                </a:moveTo>
                <a:lnTo>
                  <a:pt x="463084" y="0"/>
                </a:lnTo>
                <a:lnTo>
                  <a:pt x="463084" y="463084"/>
                </a:lnTo>
                <a:lnTo>
                  <a:pt x="0" y="4630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7030376"/>
            <a:ext cx="279507" cy="279507"/>
          </a:xfrm>
          <a:custGeom>
            <a:avLst/>
            <a:gdLst/>
            <a:ahLst/>
            <a:cxnLst/>
            <a:rect l="l" t="t" r="r" b="b"/>
            <a:pathLst>
              <a:path w="279507" h="279507">
                <a:moveTo>
                  <a:pt x="0" y="0"/>
                </a:moveTo>
                <a:lnTo>
                  <a:pt x="279507" y="0"/>
                </a:lnTo>
                <a:lnTo>
                  <a:pt x="279507" y="279506"/>
                </a:lnTo>
                <a:lnTo>
                  <a:pt x="0" y="279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35798" y="4490546"/>
            <a:ext cx="12691720" cy="193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46"/>
              </a:lnSpc>
            </a:pPr>
            <a:r>
              <a:rPr lang="en-US" sz="14043" b="1" spc="-800">
                <a:solidFill>
                  <a:srgbClr val="5350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Terima Kasih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326</Words>
  <Application>Microsoft Office PowerPoint</Application>
  <PresentationFormat>Kustom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4" baseType="lpstr">
      <vt:lpstr>Montserrat Ultra-Bold</vt:lpstr>
      <vt:lpstr>Montserrat Italics</vt:lpstr>
      <vt:lpstr>Arial</vt:lpstr>
      <vt:lpstr>Calibri</vt:lpstr>
      <vt:lpstr>Montserrat Bold</vt:lpstr>
      <vt:lpstr>Montserrat</vt:lpstr>
      <vt:lpstr>Hussar Bold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PENERAPAN ALGORITMA HASH SHA-256 DENGAN SALTING UNTUK KEAMANAN DATA PASSWORD PADA APLIKASI WEB ACTIVITY TRACKER</dc:title>
  <cp:lastModifiedBy>dini febryana</cp:lastModifiedBy>
  <cp:revision>1</cp:revision>
  <dcterms:created xsi:type="dcterms:W3CDTF">2006-08-16T00:00:00Z</dcterms:created>
  <dcterms:modified xsi:type="dcterms:W3CDTF">2025-10-27T04:38:54Z</dcterms:modified>
  <dc:identifier>DAG2jAXWbkM</dc:identifier>
</cp:coreProperties>
</file>